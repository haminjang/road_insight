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780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5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D9E75">
              <a:alpha val="4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AX 창업 MVP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Road-Insight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F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찍고, 증거로 만든다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하나로 도로 파손을 AI가 감지하고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위변조 불가 증거 PDF를 즉시 생성합니다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FastAPI + YOLO + Next.js PWA  |  Render + Vercel 배포 완료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😤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5"/>
                </a:solidFill>
              </a:rPr>
              <a:t>증거력 없는 신고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스마트폰으로 찍어도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접수 무시, 처리율 낮음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시민 신고가 묵살됨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868680"/>
            <a:ext cx="265176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0972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5"/>
                </a:solidFill>
              </a:rPr>
              <a:t>위치 데이터 부재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지자체에 파손 위치·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심각도 데이터가 없음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체계적 관리 불가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868680"/>
            <a:ext cx="265176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09728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5"/>
                </a:solidFill>
              </a:rPr>
              <a:t>사후 대응 중심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2648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사고 발생 후에야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파손 인지하는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소극적 도로 관리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6F7F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5C42"/>
                </a:solidFill>
              </a:rPr>
              <a:t>→ </a:t>
            </a:r>
            <a:r>
              <a:rPr lang="ko-KR" altLang="en-US" sz="1300" b="1" dirty="0">
                <a:solidFill>
                  <a:srgbClr val="0D5C42"/>
                </a:solidFill>
              </a:rPr>
              <a:t>시민이 찍은 사진이 </a:t>
            </a:r>
            <a:r>
              <a:rPr lang="en-US" sz="1300" b="1" dirty="0" err="1">
                <a:solidFill>
                  <a:srgbClr val="0D5C42"/>
                </a:solidFill>
              </a:rPr>
              <a:t>증거가</a:t>
            </a:r>
            <a:r>
              <a:rPr lang="en-US" sz="1300" b="1" dirty="0">
                <a:solidFill>
                  <a:srgbClr val="0D5C42"/>
                </a:solidFill>
              </a:rPr>
              <a:t> 되지 못하는 구조적 문제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💡 솔루션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5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Road-Insight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</a:rPr>
              <a:t>스마트폰으로 촬영하면 AI가 자동으로 포트홀을 감지하고, 위변조 불가 증거 PDF를 즉시 생성합니다.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404872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3500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5"/>
                </a:solidFill>
              </a:rPr>
              <a:t>카메라 촬영 → AI 포트홀 자동 감지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852928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880360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8254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5"/>
                </a:solidFill>
              </a:rPr>
              <a:t>GPS 좌표 자동 태깅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328416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355848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3009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5"/>
                </a:solidFill>
              </a:rPr>
              <a:t>SHA-256 해시로 원본 무결성 보장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803904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831336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776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5"/>
                </a:solidFill>
              </a:rPr>
              <a:t>타임스탬프 포함 증거 PDF 즉시 생성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4279392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4306824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4251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5"/>
                </a:solidFill>
              </a:rPr>
              <a:t>PWA — 앱 설치 없이 즉시 사용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029200" y="777240"/>
            <a:ext cx="3657600" cy="416052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/>
          <p:nvPr/>
        </p:nvSpPr>
        <p:spPr>
          <a:xfrm>
            <a:off x="5029200" y="777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DDBB"/>
                </a:solidFill>
              </a:rPr>
              <a:t>서비스 흐름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394960" y="141732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A5C45"/>
          </a:solidFill>
          <a:ln w="12700">
            <a:solidFill>
              <a:srgbClr val="2A7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5394960" y="14173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📷 촬영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675120" y="18928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DDBB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394960" y="2075688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A5C45"/>
          </a:solidFill>
          <a:ln w="12700">
            <a:solidFill>
              <a:srgbClr val="2A7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/>
          <p:nvPr/>
        </p:nvSpPr>
        <p:spPr>
          <a:xfrm>
            <a:off x="5394960" y="207568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🤖 AI 분석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675120" y="255117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DDBB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394960" y="2734056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A5C45"/>
          </a:solidFill>
          <a:ln w="12700">
            <a:solidFill>
              <a:srgbClr val="2A7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/>
          <p:nvPr/>
        </p:nvSpPr>
        <p:spPr>
          <a:xfrm>
            <a:off x="5394960" y="273405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📍 GPS 태깅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675120" y="320954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DDBB"/>
                </a:solidFill>
              </a:rPr>
              <a:t>↓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394960" y="3392424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A5C45"/>
          </a:solidFill>
          <a:ln w="12700">
            <a:solidFill>
              <a:srgbClr val="2A7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/>
          <p:nvPr/>
        </p:nvSpPr>
        <p:spPr>
          <a:xfrm>
            <a:off x="5394960" y="33924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📄 PDF 생성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675120" y="38679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DDBB"/>
                </a:solidFill>
              </a:rPr>
              <a:t>↓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394960" y="4050792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D9E75"/>
          </a:solidFill>
          <a:ln w="12700">
            <a:solidFill>
              <a:srgbClr val="2A7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/>
          <p:nvPr/>
        </p:nvSpPr>
        <p:spPr>
          <a:xfrm>
            <a:off x="5394960" y="405079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신고 완료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02920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DDBB"/>
                </a:solidFill>
              </a:rPr>
              <a:t>⏱ 30초 이내 완료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⚙️ 핵심 기술 (AI Technology)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9875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5"/>
                </a:solidFill>
              </a:rPr>
              <a:t>YOLO 파인튜닝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371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AI Hub 포트홀 데이터셋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10000장 </a:t>
            </a:r>
            <a:r>
              <a:rPr lang="ko-KR" altLang="en-US" sz="1150" dirty="0">
                <a:solidFill>
                  <a:srgbClr val="6B7280"/>
                </a:solidFill>
              </a:rPr>
              <a:t>이상 </a:t>
            </a:r>
            <a:r>
              <a:rPr lang="en-US" sz="1150" dirty="0" err="1">
                <a:solidFill>
                  <a:srgbClr val="6B7280"/>
                </a:solidFill>
              </a:rPr>
              <a:t>학습</a:t>
            </a:r>
            <a:r>
              <a:rPr lang="en-US" sz="1150" dirty="0">
                <a:solidFill>
                  <a:srgbClr val="6B7280"/>
                </a:solidFill>
              </a:rPr>
              <a:t> 완료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신뢰도 0.6 이상만 감지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73152" cy="1737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9875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5"/>
                </a:solidFill>
              </a:rPr>
              <a:t>이미지 품질 필터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23560" y="1371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역광·저조도 자동 감지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밝기 임계값 기반 검증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부정확한 감지 방지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7315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9535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5"/>
                </a:solidFill>
              </a:rPr>
              <a:t>위험도 점수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3375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신뢰도 × 면적 비율 기반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0~100점 자동 산출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긴급도 우선순위 제공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754880" y="2788920"/>
            <a:ext cx="73152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9535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5"/>
                </a:solidFill>
              </a:rPr>
              <a:t>SHA-256 무결성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23560" y="33375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촬영 원본 해시 생성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위변조 여부 검증 가능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법적 증거력 확보 기반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시장 및 타겟 (Market)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749040"/>
          </a:xfrm>
          <a:prstGeom prst="rect">
            <a:avLst/>
          </a:prstGeom>
          <a:solidFill>
            <a:srgbClr val="E6F7F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42"/>
                </a:solidFill>
              </a:rPr>
              <a:t>B2C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시민 직접 사용자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5"/>
                </a:solidFill>
              </a:rPr>
              <a:t>도로 파손 피해 시민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2374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688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5"/>
                </a:solidFill>
              </a:rPr>
              <a:t>배달라이더·퀵서비스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954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1546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5"/>
                </a:solidFill>
              </a:rPr>
              <a:t>운수업 종사자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754880" y="822960"/>
            <a:ext cx="3931920" cy="37490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4754880" y="822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38CA"/>
                </a:solidFill>
              </a:rPr>
              <a:t>B2G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공공기관 대상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623560" y="17830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181051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23560" y="181051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5"/>
                </a:solidFill>
              </a:rPr>
              <a:t>도로 파손 데이터 SaaS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9749" y="2523744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623560" y="2528317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5"/>
                </a:solidFill>
              </a:rPr>
              <a:t>보험사 사고 증거 서비스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💰 비즈니스 모델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51760" cy="3749040"/>
          </a:xfrm>
          <a:prstGeom prst="rect">
            <a:avLst/>
          </a:prstGeom>
          <a:solidFill>
            <a:srgbClr val="E6F7F2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65176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· 현재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📲 B2C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5"/>
                </a:solidFill>
              </a:rPr>
              <a:t>무료 시민 신고 도구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PWA 앱 무료 제공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시민 신고 활성화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사용자 데이터 누적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현재 단계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651760" cy="3749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65176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9184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8CA"/>
                </a:solidFill>
              </a:rPr>
              <a:t>🏛️ B2G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5"/>
                </a:solidFill>
              </a:rPr>
              <a:t>지자체 SaaS 구독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331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도로 파손 대시보드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월정액 구독 모델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지자체 데이터 공급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2651760" cy="3749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6517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🤝 B2B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5"/>
                </a:solidFill>
              </a:rPr>
              <a:t>보험사 API 연동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2331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사고 증거 API 제공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건당 수익 모델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다양한 파트너 확장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🚀 현재 개발 현황 (Traction)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51760" cy="137160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FDD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학습 이미지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D9C8"/>
                </a:solidFill>
              </a:rPr>
              <a:t>AI Hub 포트홀 데이터셋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777240"/>
            <a:ext cx="2651760" cy="137160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91840" y="822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FDD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신뢰도 임계값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D9C8"/>
                </a:solidFill>
              </a:rPr>
              <a:t>정밀도 확보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651760" cy="137160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822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FDD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5~10초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처리 시간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D9C8"/>
                </a:solidFill>
              </a:rPr>
              <a:t>촬영 → PDF 완료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73152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580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5"/>
                </a:solidFill>
              </a:rPr>
              <a:t>백엔드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286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FastAPI + YOLO (Ultralytics) + ReportLab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237744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6F7F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7512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42"/>
                </a:solidFill>
              </a:rPr>
              <a:t>✓ Render 배포 완료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73152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5"/>
                </a:solidFill>
              </a:rPr>
              <a:t>프론트엔드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Next.js 15 + TypeScript + PWA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75120" y="297180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6F7F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7512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42"/>
                </a:solidFill>
              </a:rPr>
              <a:t>✓ Vercel 배포 완료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73152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85800" y="3474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5"/>
                </a:solidFill>
              </a:rPr>
              <a:t>AI 모델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03120" y="3474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YOLOv11 파인튜닝 (best.pt)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75120" y="356616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6F7F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67512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42"/>
                </a:solidFill>
              </a:rPr>
              <a:t>✓ 검증 완료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73152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5800" y="4069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5"/>
                </a:solidFill>
              </a:rPr>
              <a:t>데이터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03120" y="4069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AI Hub 포트홀 → YOLO 변환 자동화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75120" y="416052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E6F7F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67512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42"/>
                </a:solidFill>
              </a:rPr>
              <a:t>✓ 파이프라인 완성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200" b="1" dirty="0">
                <a:solidFill>
                  <a:srgbClr val="FFFFFF"/>
                </a:solidFill>
              </a:rPr>
              <a:t>피드백 반영 1 맨 위치정보법 대응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98755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피드백 내용</a:t>
            </a:r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위치표시 사용 시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위치기반서비스사업자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등록 필요 (위치정보법 §9)</a:t>
            </a:r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73152" cy="1737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937760" y="98755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법적 근거</a:t>
            </a:r>
          </a:p>
        </p:txBody>
      </p:sp>
      <p:sp>
        <p:nvSpPr>
          <p:cNvPr id="13" name="Text 9"/>
          <p:cNvSpPr/>
          <p:nvPr/>
        </p:nvSpPr>
        <p:spPr>
          <a:xfrm>
            <a:off x="4937760" y="137160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GPS 좌표 수집램활용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상업적 서비스 목적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방통위 신고 대상</a:t>
            </a:r>
          </a:p>
        </p:txBody>
      </p:sp>
      <p:sp>
        <p:nvSpPr>
          <p:cNvPr id="14" name="Shape 10"/>
          <p:cNvSpPr/>
          <p:nvPr/>
        </p:nvSpPr>
        <p:spPr>
          <a:xfrm>
            <a:off x="45720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7315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640080" y="295351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대응 계획</a:t>
            </a:r>
          </a:p>
        </p:txBody>
      </p:sp>
      <p:sp>
        <p:nvSpPr>
          <p:cNvPr id="18" name="Text 13"/>
          <p:cNvSpPr/>
          <p:nvPr/>
        </p:nvSpPr>
        <p:spPr>
          <a:xfrm>
            <a:off x="640080" y="333756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방통위 온라인 신고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중소기업 서류 간소화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Demo Day 전 완료 목표</a:t>
            </a:r>
          </a:p>
        </p:txBody>
      </p:sp>
      <p:sp>
        <p:nvSpPr>
          <p:cNvPr id="19" name="Shape 14"/>
          <p:cNvSpPr/>
          <p:nvPr/>
        </p:nvSpPr>
        <p:spPr>
          <a:xfrm>
            <a:off x="475488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754880" y="2788920"/>
            <a:ext cx="73152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4937760" y="295351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비즈니스 활용</a:t>
            </a:r>
          </a:p>
        </p:txBody>
      </p:sp>
      <p:sp>
        <p:nvSpPr>
          <p:cNvPr id="23" name="Text 17"/>
          <p:cNvSpPr/>
          <p:nvPr/>
        </p:nvSpPr>
        <p:spPr>
          <a:xfrm>
            <a:off x="4937760" y="333756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법적 요건 준수 입증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B2B 영업 신뢰도 제고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손해사정사 채택 촉진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200" b="1" dirty="0">
                <a:solidFill>
                  <a:srgbClr val="FFFFFF"/>
                </a:solidFill>
              </a:rPr>
              <a:t>피드백 반영 2 맨 학습 데이터 고도화 계획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98755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현재 정형 데이터</a:t>
            </a:r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AI Hub 포트홀 데이터셋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</a:rPr>
              <a:t>10,000</a:t>
            </a:r>
            <a:r>
              <a:rPr lang="ko-KR" sz="1150" dirty="0">
                <a:solidFill>
                  <a:srgbClr val="6B7280"/>
                </a:solidFill>
              </a:rPr>
              <a:t>개 JSON + 이미지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</a:rPr>
              <a:t>5000</a:t>
            </a:r>
            <a:r>
              <a:rPr lang="ko-KR" sz="1150" dirty="0">
                <a:solidFill>
                  <a:srgbClr val="6B7280"/>
                </a:solidFill>
              </a:rPr>
              <a:t>개 포트홀 라벨 변환</a:t>
            </a:r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73152" cy="1737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937760" y="98755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비정형 데이터 추가</a:t>
            </a:r>
          </a:p>
        </p:txBody>
      </p:sp>
      <p:sp>
        <p:nvSpPr>
          <p:cNvPr id="13" name="Text 9"/>
          <p:cNvSpPr/>
          <p:nvPr/>
        </p:nvSpPr>
        <p:spPr>
          <a:xfrm>
            <a:off x="4937760" y="137160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블랙박스 커뮤니티 사진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RDD2022 오픈 데이터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MVP 사용자 제보 이미지</a:t>
            </a:r>
            <a:r>
              <a:rPr lang="en-US" altLang="ko-KR" sz="1150" dirty="0">
                <a:solidFill>
                  <a:srgbClr val="6B7280"/>
                </a:solidFill>
              </a:rPr>
              <a:t> + </a:t>
            </a:r>
            <a:r>
              <a:rPr lang="ko-KR" altLang="en-US" sz="1150" dirty="0">
                <a:solidFill>
                  <a:srgbClr val="6B7280"/>
                </a:solidFill>
              </a:rPr>
              <a:t>학교 주변 이미지</a:t>
            </a:r>
            <a:endParaRPr lang="ko-KR" sz="1150" dirty="0">
              <a:solidFill>
                <a:srgbClr val="6B7280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720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7315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640080" y="295351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데이터 증강 계획</a:t>
            </a:r>
          </a:p>
        </p:txBody>
      </p:sp>
      <p:sp>
        <p:nvSpPr>
          <p:cNvPr id="18" name="Text 13"/>
          <p:cNvSpPr/>
          <p:nvPr/>
        </p:nvSpPr>
        <p:spPr>
          <a:xfrm>
            <a:off x="640080" y="333756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조명</a:t>
            </a:r>
            <a:r>
              <a:rPr lang="en-US" altLang="ko-KR" sz="1150" dirty="0">
                <a:solidFill>
                  <a:srgbClr val="6B7280"/>
                </a:solidFill>
              </a:rPr>
              <a:t> / </a:t>
            </a:r>
            <a:r>
              <a:rPr lang="ko-KR" sz="1150" dirty="0">
                <a:solidFill>
                  <a:srgbClr val="6B7280"/>
                </a:solidFill>
              </a:rPr>
              <a:t>날씨</a:t>
            </a:r>
            <a:r>
              <a:rPr lang="en-US" altLang="ko-KR" sz="1150" dirty="0">
                <a:solidFill>
                  <a:srgbClr val="6B7280"/>
                </a:solidFill>
              </a:rPr>
              <a:t> </a:t>
            </a:r>
            <a:r>
              <a:rPr lang="ko-KR" altLang="en-US" sz="1150" dirty="0">
                <a:solidFill>
                  <a:srgbClr val="6B7280"/>
                </a:solidFill>
              </a:rPr>
              <a:t>등의</a:t>
            </a:r>
            <a:r>
              <a:rPr lang="ko-KR" sz="1150" dirty="0">
                <a:solidFill>
                  <a:srgbClr val="6B7280"/>
                </a:solidFill>
              </a:rPr>
              <a:t> 조건 다양화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Motion Blur 적용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</a:rPr>
              <a:t>A</a:t>
            </a:r>
            <a:r>
              <a:rPr lang="ko-KR" sz="1150" dirty="0" err="1">
                <a:solidFill>
                  <a:srgbClr val="6B7280"/>
                </a:solidFill>
              </a:rPr>
              <a:t>lbumentations</a:t>
            </a:r>
            <a:r>
              <a:rPr lang="en-US" altLang="ko-KR" sz="1150" dirty="0">
                <a:solidFill>
                  <a:srgbClr val="6B7280"/>
                </a:solidFill>
              </a:rPr>
              <a:t>(</a:t>
            </a:r>
            <a:r>
              <a:rPr lang="ko-KR" altLang="en-US" sz="1150" dirty="0">
                <a:solidFill>
                  <a:srgbClr val="6B7280"/>
                </a:solidFill>
              </a:rPr>
              <a:t>이미지 증강 라이브러리</a:t>
            </a:r>
            <a:r>
              <a:rPr lang="en-US" altLang="ko-KR" sz="1150">
                <a:solidFill>
                  <a:srgbClr val="6B7280"/>
                </a:solidFill>
              </a:rPr>
              <a:t>)</a:t>
            </a:r>
            <a:r>
              <a:rPr lang="ko-KR" sz="1150">
                <a:solidFill>
                  <a:srgbClr val="6B7280"/>
                </a:solidFill>
              </a:rPr>
              <a:t> </a:t>
            </a:r>
            <a:r>
              <a:rPr lang="ko-KR" sz="1150" dirty="0">
                <a:solidFill>
                  <a:srgbClr val="6B7280"/>
                </a:solidFill>
              </a:rPr>
              <a:t>자동화</a:t>
            </a:r>
          </a:p>
        </p:txBody>
      </p:sp>
      <p:sp>
        <p:nvSpPr>
          <p:cNvPr id="19" name="Shape 14"/>
          <p:cNvSpPr/>
          <p:nvPr/>
        </p:nvSpPr>
        <p:spPr>
          <a:xfrm>
            <a:off x="475488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754880" y="2788920"/>
            <a:ext cx="73152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4937760" y="295351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기대 효과</a:t>
            </a:r>
          </a:p>
        </p:txBody>
      </p:sp>
      <p:sp>
        <p:nvSpPr>
          <p:cNvPr id="23" name="Text 17"/>
          <p:cNvSpPr/>
          <p:nvPr/>
        </p:nvSpPr>
        <p:spPr>
          <a:xfrm>
            <a:off x="4937760" y="333756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실도로 환경 일반화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오탐지율 감소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모델 성</a:t>
            </a:r>
            <a:r>
              <a:rPr lang="ko-KR" altLang="en-US" sz="1150" dirty="0">
                <a:solidFill>
                  <a:srgbClr val="6B7280"/>
                </a:solidFill>
              </a:rPr>
              <a:t>능</a:t>
            </a:r>
            <a:r>
              <a:rPr lang="ko-KR" sz="1150" dirty="0">
                <a:solidFill>
                  <a:srgbClr val="6B7280"/>
                </a:solidFill>
              </a:rPr>
              <a:t> 향상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42"/>
          </a:solidFill>
          <a:ln w="12700">
            <a:solidFill>
              <a:srgbClr val="0D5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200" b="1" dirty="0">
                <a:solidFill>
                  <a:srgbClr val="FFFFFF"/>
                </a:solidFill>
              </a:rPr>
              <a:t>피드백 반영 3 맨 처리 속도 개선 계획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98755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현재 문제</a:t>
            </a:r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분석 시간 약 30초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 err="1">
                <a:solidFill>
                  <a:srgbClr val="6B7280"/>
                </a:solidFill>
              </a:rPr>
              <a:t>Render</a:t>
            </a:r>
            <a:r>
              <a:rPr lang="ko-KR" sz="1150" dirty="0">
                <a:solidFill>
                  <a:srgbClr val="6B7280"/>
                </a:solidFill>
              </a:rPr>
              <a:t>  </a:t>
            </a:r>
            <a:r>
              <a:rPr lang="ko-KR" altLang="en-US" sz="1150" dirty="0">
                <a:solidFill>
                  <a:srgbClr val="6B7280"/>
                </a:solidFill>
              </a:rPr>
              <a:t>지연</a:t>
            </a:r>
            <a:r>
              <a:rPr lang="ko-KR" sz="1150" dirty="0">
                <a:solidFill>
                  <a:srgbClr val="6B7280"/>
                </a:solidFill>
              </a:rPr>
              <a:t> 원인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추론 자체는 1~2초</a:t>
            </a:r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73152" cy="1737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937760" y="98755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즉시 적용 (단기)</a:t>
            </a:r>
          </a:p>
        </p:txBody>
      </p:sp>
      <p:sp>
        <p:nvSpPr>
          <p:cNvPr id="13" name="Text 9"/>
          <p:cNvSpPr/>
          <p:nvPr/>
        </p:nvSpPr>
        <p:spPr>
          <a:xfrm>
            <a:off x="4937760" y="137160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Render 유료 업그레이드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Demo Day 전 적용 예정</a:t>
            </a:r>
          </a:p>
        </p:txBody>
      </p:sp>
      <p:sp>
        <p:nvSpPr>
          <p:cNvPr id="14" name="Shape 10"/>
          <p:cNvSpPr/>
          <p:nvPr/>
        </p:nvSpPr>
        <p:spPr>
          <a:xfrm>
            <a:off x="45720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7315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640080" y="295351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모델 최적화 (중기)</a:t>
            </a:r>
          </a:p>
        </p:txBody>
      </p:sp>
      <p:sp>
        <p:nvSpPr>
          <p:cNvPr id="18" name="Text 13"/>
          <p:cNvSpPr/>
          <p:nvPr/>
        </p:nvSpPr>
        <p:spPr>
          <a:xfrm>
            <a:off x="640080" y="333756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YOLO → ONNX 변환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추론 속도 2~3배 향상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INT8 양자화 적용</a:t>
            </a:r>
          </a:p>
        </p:txBody>
      </p:sp>
      <p:sp>
        <p:nvSpPr>
          <p:cNvPr id="19" name="Shape 14"/>
          <p:cNvSpPr/>
          <p:nvPr/>
        </p:nvSpPr>
        <p:spPr>
          <a:xfrm>
            <a:off x="4754880" y="27889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754880" y="2788920"/>
            <a:ext cx="73152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4937760" y="2953512"/>
            <a:ext cx="361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1A2E25"/>
                </a:solidFill>
              </a:rPr>
              <a:t>UX 개선 (즉시)</a:t>
            </a:r>
          </a:p>
        </p:txBody>
      </p:sp>
      <p:sp>
        <p:nvSpPr>
          <p:cNvPr id="23" name="Text 17"/>
          <p:cNvSpPr/>
          <p:nvPr/>
        </p:nvSpPr>
        <p:spPr>
          <a:xfrm>
            <a:off x="4937760" y="3337560"/>
            <a:ext cx="361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진입 시 Wake-up 요청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프로그레시브 피드백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ko-KR" sz="1150" dirty="0">
                <a:solidFill>
                  <a:srgbClr val="6B7280"/>
                </a:solidFill>
              </a:rPr>
              <a:t>체감 대기시간 단축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5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4D35"/>
          </a:solidFill>
          <a:ln w="12700">
            <a:solidFill>
              <a:srgbClr val="0A4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🗺️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97680" y="2331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FDDBB"/>
                </a:solidFill>
              </a:rPr>
              <a:t>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4114800"/>
          </a:xfrm>
          <a:prstGeom prst="rect">
            <a:avLst/>
          </a:prstGeom>
          <a:solidFill>
            <a:srgbClr val="1A5C45"/>
          </a:solidFill>
          <a:ln w="12700">
            <a:solidFill>
              <a:srgbClr val="2A7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3931920" cy="594360"/>
          </a:xfrm>
          <a:prstGeom prst="rect">
            <a:avLst/>
          </a:prstGeom>
          <a:solidFill>
            <a:srgbClr val="7FDDBB"/>
          </a:solidFill>
          <a:ln w="12700">
            <a:solidFill>
              <a:srgbClr val="7FDD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5C42"/>
                </a:solidFill>
              </a:rPr>
              <a:t>Phase 1 · MVP 시민 신고 도구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3017520" cy="347472"/>
          </a:xfrm>
          <a:prstGeom prst="round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현재 진행 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스마트폰 카메라 촬영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44144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YOLO AI 포트홀 감지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916936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GPS 위치 자동 태깅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392424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증거 PDF 자동 생성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867912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Vercel + Render 배포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3931920" cy="4114800"/>
          </a:xfrm>
          <a:prstGeom prst="rect">
            <a:avLst/>
          </a:prstGeom>
          <a:solidFill>
            <a:srgbClr val="1A1A4E"/>
          </a:solidFill>
          <a:ln w="12700">
            <a:solidFill>
              <a:srgbClr val="3A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3931920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 · 공공 연계 &amp; 상용화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민원24 API 연동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198424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보험사 증거 서비스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0" y="2459736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신고 </a:t>
            </a:r>
            <a:r>
              <a:rPr lang="en-US" sz="1250" dirty="0" err="1">
                <a:solidFill>
                  <a:srgbClr val="D1FAE5"/>
                </a:solidFill>
              </a:rPr>
              <a:t>데이터</a:t>
            </a:r>
            <a:r>
              <a:rPr lang="en-US" sz="1250" dirty="0">
                <a:solidFill>
                  <a:srgbClr val="D1FAE5"/>
                </a:solidFill>
              </a:rPr>
              <a:t> </a:t>
            </a:r>
            <a:r>
              <a:rPr lang="ko-KR" altLang="en-US" sz="1250" dirty="0">
                <a:solidFill>
                  <a:srgbClr val="D1FAE5"/>
                </a:solidFill>
              </a:rPr>
              <a:t>수익화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0" y="2935224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DDBB"/>
                </a:solidFill>
              </a:rPr>
              <a:t>• </a:t>
            </a:r>
            <a:r>
              <a:rPr lang="en-US" sz="1250" dirty="0">
                <a:solidFill>
                  <a:srgbClr val="D1FAE5"/>
                </a:solidFill>
              </a:rPr>
              <a:t>다국어 지원 글로벌화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5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9E75">
              <a:alpha val="3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찍으면</a:t>
            </a:r>
            <a:endParaRPr lang="en-US" sz="5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증거가 됩니다.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DDBB"/>
                </a:solidFill>
              </a:rPr>
              <a:t>Road-Insight — AI 도로 파손 증거 생성 서비스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7D9C8"/>
                </a:solidFill>
              </a:rPr>
              <a:t>🌐 roadinsightfrontend.vercel.app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7D9C8"/>
                </a:solidFill>
              </a:rPr>
              <a:t>🔗 road-insight-backend.onrender.com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Road-Insight  |  AX 창업 MVP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688</Words>
  <Application>Microsoft Office PowerPoint</Application>
  <PresentationFormat>화면 슬라이드 쇼(16:9)</PresentationFormat>
  <Paragraphs>187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Road-Insight MVP Pitch</dc:title>
  <dc:subject>PptxGenJS Presentation</dc:subject>
  <dc:creator>PptxGenJS</dc:creator>
  <cp:lastModifiedBy>hamin jang</cp:lastModifiedBy>
  <cp:revision>3</cp:revision>
  <dcterms:created xsi:type="dcterms:W3CDTF">2026-04-28T15:09:53Z</dcterms:created>
  <dcterms:modified xsi:type="dcterms:W3CDTF">2026-05-13T06:04:54Z</dcterms:modified>
</cp:coreProperties>
</file>